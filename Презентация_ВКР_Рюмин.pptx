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17"/>
  </p:notes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9" r:id="rId10"/>
    <p:sldId id="283" r:id="rId11"/>
    <p:sldId id="284" r:id="rId12"/>
    <p:sldId id="285" r:id="rId13"/>
    <p:sldId id="287" r:id="rId14"/>
    <p:sldId id="288" r:id="rId15"/>
    <p:sldId id="28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0CC44CC-525B-458D-9FB6-0A7E11D5E95D}">
          <p14:sldIdLst>
            <p14:sldId id="256"/>
            <p14:sldId id="276"/>
            <p14:sldId id="277"/>
            <p14:sldId id="278"/>
            <p14:sldId id="279"/>
            <p14:sldId id="280"/>
            <p14:sldId id="281"/>
            <p14:sldId id="282"/>
            <p14:sldId id="289"/>
            <p14:sldId id="283"/>
            <p14:sldId id="284"/>
            <p14:sldId id="285"/>
            <p14:sldId id="287"/>
            <p14:sldId id="288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3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0C2F2E-7DBD-43E9-BEE6-27C5608CA6E6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802B7-1495-41E8-912B-D13EE57EE1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883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F802B7-1495-41E8-912B-D13EE57EE11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803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53262C-184E-46BD-B764-91FB79E6C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C268F3-73E1-49A6-A712-AEF0FE296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DB1785-3439-4C5C-8016-AADECA63E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2B4-EA9D-4698-9877-AF68E5B6E59D}" type="datetime1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9244F9-8E05-4484-AB7C-AA8FCA450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67667C-0AC8-4011-80E9-F04E1506B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342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CE7368-5F38-4CC1-BFA1-55DF30A2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B8E7B2-1352-41E4-BBDD-4266D0940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8916A0-17C8-499D-A8DD-55A27DAC8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A0CED-1D93-4860-BC2F-8B8CE5D7A0F2}" type="datetime1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6E311A-97F5-4084-9FEF-510A8BF5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D99632-17BF-465F-83AD-F12CA5C06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33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56E01-0559-4B69-B3A2-A7F7D2D6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560EAD-49B7-4A03-AC2C-845F44C06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98F13D-5A1F-446B-85D1-DB9264B9E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7B59-1E86-4794-9D8B-28E94A4E5861}" type="datetime1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4DC902-5CA7-4FA3-A42E-DFFB10B5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4217FD-1A26-47B8-B669-62F479C8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646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90AD2-ACEB-4067-A20F-6716DEF1F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230E3-7B14-4E7E-A818-FD09CA67E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D86E8C-A73A-4F62-9081-0816EBCD2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2DC9E9-4A14-424F-BAE1-B52036F25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186E5-2C9D-491E-8C1B-BF241B9164D0}" type="datetime1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6A0FF0-1786-460C-A557-95EF1681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A54875-59E2-46CD-B28A-1B5EA2DE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0478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799982-D570-4B5F-B335-752888FC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389974-392D-4C4E-95A6-BD359CC38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EE68D3-D603-4B27-AEFC-B9ACEA6B3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3E0D533-B9DA-4E42-B620-3AE38BD8F3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CD32FE3-8869-43DD-824B-719FEB761A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21B2D31-A8C8-47EC-8EF5-A9D7422A4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7086-780F-416F-9477-D8ADC6437B28}" type="datetime1">
              <a:rPr lang="ru-RU" smtClean="0"/>
              <a:t>16.06.2026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DF7C649-C385-412B-A3F0-65436ABDD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B1D1407-15A8-4855-BE32-4F6B6161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847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152E42-86C1-49ED-B792-5760807C5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2DDA8BC-D9C8-4B98-B43D-4549ADA04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C1B5-79C7-4FD6-81E0-FA3E4480E1CA}" type="datetime1">
              <a:rPr lang="ru-RU" smtClean="0"/>
              <a:t>16.06.2026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1F3D97-6F3E-4091-9CF6-966CE9D22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F0591AE-7AA4-46FA-A73A-43D2A064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494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89F8C6B-BC97-4F2A-A9F7-46B5EFE85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133C3-40F0-4962-8969-770241D01E2C}" type="datetime1">
              <a:rPr lang="ru-RU" smtClean="0"/>
              <a:t>16.06.2026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6DDDF05-9F75-4A6B-8A0E-E51E6D78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8FFA0B-D397-4EFE-B287-D0CDC72D4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22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7860CA-43F4-45E9-A476-18CC6777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D37509-1491-44A3-9A87-A1E43D598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E624FDC-E53C-488B-A3EB-FE046B0B1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6A90B6-655A-4EAC-B95F-2AD9BE9CE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09A5-B8B2-4B8D-A1A7-990C880D6E72}" type="datetime1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C9449D-56A3-4626-BD81-2BBE9E3D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15D4E5-30A6-4FCE-8B44-8D937A26C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50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883A7-F909-4364-A686-7F29A1218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30CD0CC-5F65-4A38-8103-59AD32624E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8FE932-5D96-41B0-A363-883A55E17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AC7551-D4B3-4C77-8DE9-E387A4662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0F49-8BC8-4CD6-B629-E0F471254AB5}" type="datetime1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3F115A-C700-4EA8-BD6A-837B7A7D9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37AD4F-983B-4F33-B00F-770FEB90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957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47A19-48B8-48BB-8DD4-11818D026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F425DC0-B317-488F-A0FA-C0FCC9F15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6ADBA8-751A-4591-A17E-64F65A56B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A72C-C410-4072-9669-4DAA09CD5008}" type="datetime1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C5432D-0C38-41E2-823A-321090969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CD23EE-4868-4F84-9490-E11C86A76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439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B886E87-B48F-49C9-95AC-3F8AC4516D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7B08C2-883F-4ABD-BB33-61AACAD54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6C5B06-AFEE-433F-BEFA-43B100295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DD8F2-80A7-4352-972D-FBB9D3D1BB7E}" type="datetime1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EA882D-6D4A-4A1E-82C7-876FDB64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3A4950-87D7-478F-9DDD-8906762D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45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9B271C-A144-4354-ABE8-65B2F6E55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04285D-F441-44EA-8050-61CFA69B8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81C750-AA89-427E-89FE-537000E98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CEB16-87BB-4903-A645-0B8CA10470C9}" type="datetime1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DFA18C-FB9F-4969-8AE2-9C28698CB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9E5C08-590C-442B-9128-F72BAEC1D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6EFE5-D2EB-4C7D-83C6-EAC534C1A4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28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01AFD1-D749-AB7A-EF7B-BAA7ED8F6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199" y="2380526"/>
            <a:ext cx="10038523" cy="1603100"/>
          </a:xfrm>
        </p:spPr>
        <p:txBody>
          <a:bodyPr lIns="110000" tIns="70000" rIns="110000" bIns="70000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2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Разработка программного обеспечения для анализа и визуализации результатов обработки пользовательских отзывов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E319A6-A4B3-7D18-AB06-ECF92670C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5146" y="555197"/>
            <a:ext cx="7626627" cy="882278"/>
          </a:xfrm>
        </p:spPr>
        <p:txBody>
          <a:bodyPr lIns="110000" tIns="70000" rIns="110000" bIns="70000">
            <a:normAutofit/>
          </a:bodyPr>
          <a:lstStyle/>
          <a:p>
            <a:r>
              <a:rPr lang="ru-RU" sz="1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Министерство науки и высшего образования Российской Федерации ФГБОУ ВО «Рязанский государственный радиотехнический университет имени В. Ф. Уткина»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D558C99-BE54-4044-F054-D6459B9A32E3}"/>
              </a:ext>
            </a:extLst>
          </p:cNvPr>
          <p:cNvSpPr txBox="1">
            <a:spLocks/>
          </p:cNvSpPr>
          <p:nvPr/>
        </p:nvSpPr>
        <p:spPr>
          <a:xfrm>
            <a:off x="6851380" y="4294275"/>
            <a:ext cx="4546722" cy="1162878"/>
          </a:xfrm>
          <a:prstGeom prst="rect">
            <a:avLst/>
          </a:prstGeom>
        </p:spPr>
        <p:txBody>
          <a:bodyPr vert="horz" lIns="110000" tIns="70000" rIns="110000" bIns="7000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Студент: Рюмин В.Р.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Руководитель: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к.т.н., доцент кафедры ВПМ Князьков П.А.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F4CA4A04-895A-6B77-6869-22946D686535}"/>
              </a:ext>
            </a:extLst>
          </p:cNvPr>
          <p:cNvSpPr txBox="1">
            <a:spLocks/>
          </p:cNvSpPr>
          <p:nvPr/>
        </p:nvSpPr>
        <p:spPr>
          <a:xfrm>
            <a:off x="1219197" y="4294275"/>
            <a:ext cx="4121425" cy="1162878"/>
          </a:xfrm>
          <a:prstGeom prst="rect">
            <a:avLst/>
          </a:prstGeom>
        </p:spPr>
        <p:txBody>
          <a:bodyPr vert="horz" lIns="110000" tIns="70000" rIns="110000" bIns="7000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Направление подготовки: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09.03.04 Программная инженерия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ОПОП: Программная инженерия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Группа: 2413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6A516711-4D12-8962-C82D-F1A22E36E364}"/>
              </a:ext>
            </a:extLst>
          </p:cNvPr>
          <p:cNvSpPr txBox="1">
            <a:spLocks/>
          </p:cNvSpPr>
          <p:nvPr/>
        </p:nvSpPr>
        <p:spPr>
          <a:xfrm>
            <a:off x="1219199" y="1751825"/>
            <a:ext cx="9753602" cy="628701"/>
          </a:xfrm>
          <a:prstGeom prst="rect">
            <a:avLst/>
          </a:prstGeom>
        </p:spPr>
        <p:txBody>
          <a:bodyPr vert="horz" lIns="110000" tIns="70000" rIns="110000" bIns="7000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Выпускная квалификационная работа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F82A7A01-4447-FD63-24E5-20C466AAB02E}"/>
              </a:ext>
            </a:extLst>
          </p:cNvPr>
          <p:cNvSpPr txBox="1">
            <a:spLocks/>
          </p:cNvSpPr>
          <p:nvPr/>
        </p:nvSpPr>
        <p:spPr>
          <a:xfrm>
            <a:off x="4035287" y="6062870"/>
            <a:ext cx="4121425" cy="384314"/>
          </a:xfrm>
          <a:prstGeom prst="rect">
            <a:avLst/>
          </a:prstGeom>
        </p:spPr>
        <p:txBody>
          <a:bodyPr vert="horz" lIns="110000" tIns="70000" rIns="110000" bIns="7000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Рязань 2026</a:t>
            </a:r>
          </a:p>
        </p:txBody>
      </p:sp>
    </p:spTree>
    <p:extLst>
      <p:ext uri="{BB962C8B-B14F-4D97-AF65-F5344CB8AC3E}">
        <p14:creationId xmlns:p14="http://schemas.microsoft.com/office/powerpoint/2010/main" val="2940716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37CB5-1ACA-8FA3-5888-4D55F454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10000" tIns="70000" rIns="110000" bIns="70000">
            <a:normAutofit/>
          </a:bodyPr>
          <a:lstStyle/>
          <a:p>
            <a:r>
              <a:rPr lang="ru-RU" sz="3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C71E5B-20E5-4A68-B39B-50046D2E2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53177"/>
            <a:ext cx="5849679" cy="5118229"/>
          </a:xfrm>
        </p:spPr>
        <p:txBody>
          <a:bodyPr lIns="110000" tIns="70000" rIns="110000" bIns="7000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Объём пользовательских отзывов в сети постоянно растёт, а ручная обработка таких данных требует значительных временных затрат.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Отзывы содержат сведения о качестве товаров и услуг, проблемных аспектах и уровне удовлетворённости потребителей.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Для бизнеса и конечных покупателей востребован инструмент, который автоматически собирает, анализирует и наглядно представляет результаты обработки отзывов.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Разработка ReviewAnalyzer направлена на автоматизацию этого процесса для русскоязычных текстовых данных.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8D57688-C6D9-4822-B9DC-41888BA0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2</a:t>
            </a:fld>
            <a:endParaRPr lang="ru-RU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028" name="Picture 4" descr="FreeRDP clipboard image">
            <a:extLst>
              <a:ext uri="{FF2B5EF4-FFF2-40B4-BE49-F238E27FC236}">
                <a16:creationId xmlns:a16="http://schemas.microsoft.com/office/drawing/2014/main" id="{D441D554-AC86-4B05-8192-79B796A56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445" y="865981"/>
            <a:ext cx="3566009" cy="5003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CC6CD1-FE55-4791-9D9E-699956DBD035}"/>
              </a:ext>
            </a:extLst>
          </p:cNvPr>
          <p:cNvSpPr txBox="1"/>
          <p:nvPr/>
        </p:nvSpPr>
        <p:spPr>
          <a:xfrm>
            <a:off x="6095999" y="5789596"/>
            <a:ext cx="56317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Рисунок 1 – Пример большого объёма пользовательских отзывов к товару</a:t>
            </a:r>
          </a:p>
        </p:txBody>
      </p:sp>
    </p:spTree>
    <p:extLst>
      <p:ext uri="{BB962C8B-B14F-4D97-AF65-F5344CB8AC3E}">
        <p14:creationId xmlns:p14="http://schemas.microsoft.com/office/powerpoint/2010/main" val="1418649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37CB5-1ACA-8FA3-5888-4D55F454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10000" tIns="70000" rIns="110000" bIns="70000">
            <a:normAutofit/>
          </a:bodyPr>
          <a:lstStyle/>
          <a:p>
            <a:r>
              <a:rPr lang="ru-RU" sz="3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Цель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C71E5B-20E5-4A68-B39B-50046D2E2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53178"/>
            <a:ext cx="10515600" cy="3976022"/>
          </a:xfrm>
        </p:spPr>
        <p:txBody>
          <a:bodyPr lIns="110000" tIns="70000" rIns="110000" bIns="70000" anchor="t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0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Цель работы </a:t>
            </a:r>
            <a:r>
              <a:rPr lang="ru-RU" sz="2000" dirty="0">
                <a:effectLst/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–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разработать программное обеспечение для анализа и визуализации пользовательских отзывов с использованием методов обработки естественного языка.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0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Задачи: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проанализировать предметную область и существующие методы обработки отзывов;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обосновать выбор технологий и аналитических алгоритмов;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реализовать импорт отзывов из файла, по ссылке и вручную;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реализовать тональный, аспектный, тематический и кластерный анализ;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реализовать визуализацию, экспорт результатов и проверить работу системы.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2249054-812E-4E04-8424-0E3ED5C52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3</a:t>
            </a:fld>
            <a:endParaRPr lang="ru-RU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138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37CB5-1ACA-8FA3-5888-4D55F454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10000" tIns="70000" rIns="110000" bIns="70000">
            <a:normAutofit/>
          </a:bodyPr>
          <a:lstStyle/>
          <a:p>
            <a:r>
              <a:rPr lang="ru-RU" sz="3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Обзор существующих аналогов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157ABFB-0FFA-473E-9E3C-1663FA04D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4</a:t>
            </a:fld>
            <a:endParaRPr lang="ru-RU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C19F4D0-ED79-4D0A-B506-70DDCED6B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571073"/>
              </p:ext>
            </p:extLst>
          </p:nvPr>
        </p:nvGraphicFramePr>
        <p:xfrm>
          <a:off x="503273" y="1022818"/>
          <a:ext cx="11185454" cy="5400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76401">
                  <a:extLst>
                    <a:ext uri="{9D8B030D-6E8A-4147-A177-3AD203B41FA5}">
                      <a16:colId xmlns:a16="http://schemas.microsoft.com/office/drawing/2014/main" val="285857619"/>
                    </a:ext>
                  </a:extLst>
                </a:gridCol>
                <a:gridCol w="1519443">
                  <a:extLst>
                    <a:ext uri="{9D8B030D-6E8A-4147-A177-3AD203B41FA5}">
                      <a16:colId xmlns:a16="http://schemas.microsoft.com/office/drawing/2014/main" val="1084352849"/>
                    </a:ext>
                  </a:extLst>
                </a:gridCol>
                <a:gridCol w="1597922">
                  <a:extLst>
                    <a:ext uri="{9D8B030D-6E8A-4147-A177-3AD203B41FA5}">
                      <a16:colId xmlns:a16="http://schemas.microsoft.com/office/drawing/2014/main" val="1591617240"/>
                    </a:ext>
                  </a:extLst>
                </a:gridCol>
                <a:gridCol w="1731082">
                  <a:extLst>
                    <a:ext uri="{9D8B030D-6E8A-4147-A177-3AD203B41FA5}">
                      <a16:colId xmlns:a16="http://schemas.microsoft.com/office/drawing/2014/main" val="1376664427"/>
                    </a:ext>
                  </a:extLst>
                </a:gridCol>
                <a:gridCol w="1464762">
                  <a:extLst>
                    <a:ext uri="{9D8B030D-6E8A-4147-A177-3AD203B41FA5}">
                      <a16:colId xmlns:a16="http://schemas.microsoft.com/office/drawing/2014/main" val="4241955792"/>
                    </a:ext>
                  </a:extLst>
                </a:gridCol>
                <a:gridCol w="1395396">
                  <a:extLst>
                    <a:ext uri="{9D8B030D-6E8A-4147-A177-3AD203B41FA5}">
                      <a16:colId xmlns:a16="http://schemas.microsoft.com/office/drawing/2014/main" val="2876188074"/>
                    </a:ext>
                  </a:extLst>
                </a:gridCol>
                <a:gridCol w="1800448">
                  <a:extLst>
                    <a:ext uri="{9D8B030D-6E8A-4147-A177-3AD203B41FA5}">
                      <a16:colId xmlns:a16="http://schemas.microsoft.com/office/drawing/2014/main" val="40458356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Критерий / Аналог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Google Cloud Natural Language API</a:t>
                      </a:r>
                      <a:endParaRPr lang="ru-RU" sz="1800" dirty="0">
                        <a:solidFill>
                          <a:schemeClr val="bg1"/>
                        </a:solidFill>
                        <a:effectLst/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AWS 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Comprehend</a:t>
                      </a:r>
                      <a:endParaRPr lang="ru-RU" sz="1800" dirty="0">
                        <a:solidFill>
                          <a:schemeClr val="bg1"/>
                        </a:solidFill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endParaRPr lang="ru-RU" sz="1800" dirty="0">
                        <a:solidFill>
                          <a:schemeClr val="bg1"/>
                        </a:solidFill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Microsoft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Azure</a:t>
                      </a:r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 Text Analytics</a:t>
                      </a:r>
                      <a:endParaRPr lang="ru-RU" sz="1800" dirty="0">
                        <a:solidFill>
                          <a:schemeClr val="bg1"/>
                        </a:solidFill>
                        <a:effectLst/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endParaRPr lang="ru-RU" sz="1800" dirty="0">
                        <a:solidFill>
                          <a:schemeClr val="bg1"/>
                        </a:solidFill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IBM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Watson</a:t>
                      </a:r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 NLU</a:t>
                      </a:r>
                      <a:endParaRPr lang="ru-RU" sz="1800" dirty="0">
                        <a:solidFill>
                          <a:schemeClr val="bg1"/>
                        </a:solidFill>
                        <a:effectLst/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endParaRPr lang="ru-RU" sz="1800" dirty="0">
                        <a:solidFill>
                          <a:schemeClr val="bg1"/>
                        </a:solidFill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hangingPunct="0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Yandex</a:t>
                      </a:r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 </a:t>
                      </a:r>
                      <a:r>
                        <a:rPr lang="ru-RU" sz="1800" b="1" dirty="0" err="1">
                          <a:solidFill>
                            <a:schemeClr val="bg1"/>
                          </a:solidFill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DataLens</a:t>
                      </a:r>
                      <a:endParaRPr lang="ru-RU" sz="1800" dirty="0">
                        <a:solidFill>
                          <a:schemeClr val="bg1"/>
                        </a:solidFill>
                        <a:effectLst/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 hangingPunct="0">
                        <a:lnSpc>
                          <a:spcPct val="100000"/>
                        </a:lnSpc>
                      </a:pPr>
                      <a:r>
                        <a:rPr lang="en-US" sz="1800" dirty="0" err="1">
                          <a:solidFill>
                            <a:schemeClr val="bg1"/>
                          </a:solidFill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ReviewAnalyzer</a:t>
                      </a:r>
                      <a:endParaRPr lang="ru-RU" sz="1800" dirty="0">
                        <a:solidFill>
                          <a:schemeClr val="bg1"/>
                        </a:solidFill>
                        <a:effectLst/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2035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 hangingPunct="0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Анализ тональности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237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Извлечение аспектов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частично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частично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253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Тематический анализ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4930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 hangingPunct="0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Кластеризация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4949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Визуализация результатов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027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Импорт отзывов из внешнего источника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76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1853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37CB5-1ACA-8FA3-5888-4D55F454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10000" tIns="70000" rIns="110000" bIns="70000">
            <a:normAutofit/>
          </a:bodyPr>
          <a:lstStyle/>
          <a:p>
            <a:r>
              <a:rPr lang="ru-RU" sz="3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Практическая значимость и пользователи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C71E5B-20E5-4A68-B39B-50046D2E2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53178"/>
            <a:ext cx="10515600" cy="3189214"/>
          </a:xfrm>
        </p:spPr>
        <p:txBody>
          <a:bodyPr lIns="110000" tIns="70000" rIns="110000" bIns="7000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Система может использоваться в задачах бизнес-аналитики, мониторинга качества продукции, маркетинговых исследований и оценки пользовательского опыта.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Предполагаемые пользователи: аналитики, специалисты маркетинга, менеджеры по качеству, владельцы товаров и конечные покупатели.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При локальном сценарии система рассчитана на одного оператора; при серверном развёртывании количество пользователей определяется ресурсами хоста.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Практический результат – готовый инструмент, позволяющий импортировать отзывы, проводить анализ и сохранять результаты в удобных форматах.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553CE0-A32B-4665-8958-F1DED0767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5</a:t>
            </a:fld>
            <a:endParaRPr lang="ru-RU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617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37CB5-1ACA-8FA3-5888-4D55F454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10000" tIns="70000" rIns="110000" bIns="70000">
            <a:normAutofit/>
          </a:bodyPr>
          <a:lstStyle/>
          <a:p>
            <a:r>
              <a:rPr lang="ru-RU" sz="3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Средства разработки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0197CB-6516-432E-966A-955ED159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6</a:t>
            </a:fld>
            <a:endParaRPr lang="ru-RU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9775417F-68C4-4332-B948-A1377ECD1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123870"/>
              </p:ext>
            </p:extLst>
          </p:nvPr>
        </p:nvGraphicFramePr>
        <p:xfrm>
          <a:off x="1601972" y="1634150"/>
          <a:ext cx="8988056" cy="376908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494028">
                  <a:extLst>
                    <a:ext uri="{9D8B030D-6E8A-4147-A177-3AD203B41FA5}">
                      <a16:colId xmlns:a16="http://schemas.microsoft.com/office/drawing/2014/main" val="1918881293"/>
                    </a:ext>
                  </a:extLst>
                </a:gridCol>
                <a:gridCol w="4494028">
                  <a:extLst>
                    <a:ext uri="{9D8B030D-6E8A-4147-A177-3AD203B41FA5}">
                      <a16:colId xmlns:a16="http://schemas.microsoft.com/office/drawing/2014/main" val="2003000285"/>
                    </a:ext>
                  </a:extLst>
                </a:gridCol>
              </a:tblGrid>
              <a:tr h="538441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Категория</a:t>
                      </a:r>
                      <a:endParaRPr lang="ru-RU" sz="2000" dirty="0"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Средство</a:t>
                      </a:r>
                      <a:endParaRPr lang="ru-RU" sz="2000" dirty="0"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83820"/>
                  </a:ext>
                </a:extLst>
              </a:tr>
              <a:tr h="538441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Основной язык разработки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Python 3.12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48741"/>
                  </a:ext>
                </a:extLst>
              </a:tr>
              <a:tr h="538441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Интерфейс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err="1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Streamlit</a:t>
                      </a:r>
                      <a:endParaRPr lang="ru-RU" sz="2000" dirty="0"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00397"/>
                  </a:ext>
                </a:extLst>
              </a:tr>
              <a:tr h="538441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Визуализация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err="1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Plotly</a:t>
                      </a:r>
                      <a:endParaRPr lang="ru-RU" sz="2000" dirty="0"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313407"/>
                  </a:ext>
                </a:extLst>
              </a:tr>
              <a:tr h="53844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NLP</a:t>
                      </a:r>
                      <a:endParaRPr lang="ru-RU" sz="2000" dirty="0"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err="1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Transformers</a:t>
                      </a:r>
                      <a:r>
                        <a:rPr lang="en-US" sz="20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, </a:t>
                      </a:r>
                      <a:r>
                        <a:rPr lang="ru-RU" sz="2000" dirty="0" err="1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Torch</a:t>
                      </a:r>
                      <a:endParaRPr lang="ru-RU" sz="2000" dirty="0"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847783"/>
                  </a:ext>
                </a:extLst>
              </a:tr>
              <a:tr h="538441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Аналитика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err="1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pandas</a:t>
                      </a:r>
                      <a:r>
                        <a:rPr lang="ru-RU" sz="20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, </a:t>
                      </a:r>
                      <a:r>
                        <a:rPr lang="ru-RU" sz="2000" dirty="0" err="1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scikit-learn</a:t>
                      </a:r>
                      <a:endParaRPr lang="ru-RU" sz="2000" dirty="0"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211866"/>
                  </a:ext>
                </a:extLst>
              </a:tr>
              <a:tr h="538441">
                <a:tc>
                  <a:txBody>
                    <a:bodyPr/>
                    <a:lstStyle/>
                    <a:p>
                      <a:r>
                        <a:rPr lang="ru-RU" sz="2000" dirty="0" err="1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Парсинг</a:t>
                      </a:r>
                      <a:endParaRPr lang="ru-RU" sz="2000" dirty="0">
                        <a:latin typeface="Liberation Serif" panose="02020603050405020304" pitchFamily="18" charset="0"/>
                        <a:ea typeface="Liberation Serif" panose="02020603050405020304" pitchFamily="18" charset="0"/>
                        <a:cs typeface="Liberation Serif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err="1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Playwright</a:t>
                      </a:r>
                      <a:r>
                        <a:rPr lang="ru-RU" sz="2000" dirty="0"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, beautifulsoup4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366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991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37CB5-1ACA-8FA3-5888-4D55F454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10000" tIns="70000" rIns="110000" bIns="70000">
            <a:normAutofit/>
          </a:bodyPr>
          <a:lstStyle/>
          <a:p>
            <a:r>
              <a:rPr lang="ru-RU" sz="3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Функциональные возможности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C71E5B-20E5-4A68-B39B-50046D2E2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53178"/>
            <a:ext cx="10515600" cy="3189214"/>
          </a:xfrm>
        </p:spPr>
        <p:txBody>
          <a:bodyPr lIns="110000" tIns="70000" rIns="110000" bIns="7000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ReviewAnalyzer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поддерживает три источника входных данных: ссылка на веб-источник, CSV/XLSX-файл и ручной ввод текста.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После загрузки выполняются нормализация структуры данных, анализ тональности, извлечение аспектов, тематическое моделирование и кластеризация.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Пользователю доступны краткий обзор, расширенный анализ по аспектам, темам, кластерам и периодам, а также таблица отзывов.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Результаты можно сохранить в форматах HTML, CSV и JSON.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0972AEF-6349-4B42-97B9-C3C08212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7</a:t>
            </a:fld>
            <a:endParaRPr lang="ru-RU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490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37CB5-1ACA-8FA3-5888-4D55F454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10000" tIns="70000" rIns="110000" bIns="70000">
            <a:normAutofit/>
          </a:bodyPr>
          <a:lstStyle/>
          <a:p>
            <a:r>
              <a:rPr lang="ru-RU" sz="3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Алгоритмический конвейер</a:t>
            </a: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DF832496-F387-4F3E-9664-AB918ADF30B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075" y="907856"/>
            <a:ext cx="6793847" cy="541350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568127-430D-465E-8412-6623BD690746}"/>
              </a:ext>
            </a:extLst>
          </p:cNvPr>
          <p:cNvSpPr txBox="1"/>
          <p:nvPr/>
        </p:nvSpPr>
        <p:spPr>
          <a:xfrm>
            <a:off x="838198" y="6321365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Рисунок 2 – Алгоритмический конвейер обработки пользовательских отзывов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91864264-6B0A-4196-92F8-D21873723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8</a:t>
            </a:fld>
            <a:endParaRPr lang="ru-RU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673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37CB5-1ACA-8FA3-5888-4D55F454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10000" tIns="70000" rIns="110000" bIns="70000">
            <a:normAutofit/>
          </a:bodyPr>
          <a:lstStyle/>
          <a:p>
            <a:r>
              <a:rPr lang="ru-RU" sz="3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Принцип работы модели BERT и применение </a:t>
            </a:r>
            <a:r>
              <a:rPr lang="ru-RU" sz="36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RuBERT</a:t>
            </a:r>
            <a:endParaRPr lang="ru-RU" sz="3600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68127-430D-465E-8412-6623BD690746}"/>
              </a:ext>
            </a:extLst>
          </p:cNvPr>
          <p:cNvSpPr txBox="1"/>
          <p:nvPr/>
        </p:nvSpPr>
        <p:spPr>
          <a:xfrm>
            <a:off x="1391254" y="5863593"/>
            <a:ext cx="8365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Рисунок 3 – Архитектура модели BERT и структура обработки текста моделью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RuBERT</a:t>
            </a:r>
            <a:endParaRPr lang="ru-RU" sz="2000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91864264-6B0A-4196-92F8-D21873723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9</a:t>
            </a:fld>
            <a:endParaRPr lang="ru-RU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E3450401-EF4A-4433-8D24-733A683BD14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1254" y="867200"/>
            <a:ext cx="5139340" cy="4919396"/>
          </a:xfr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5421957-0AC7-41C4-9E9C-49E43C915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46777" y="867200"/>
            <a:ext cx="2610292" cy="491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52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37CB5-1ACA-8FA3-5888-4D55F454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10000" tIns="70000" rIns="110000" bIns="70000">
            <a:normAutofit/>
          </a:bodyPr>
          <a:lstStyle/>
          <a:p>
            <a:r>
              <a:rPr lang="ru-RU" sz="3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Методы анализа текстов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C71E5B-20E5-4A68-B39B-50046D2E2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663" y="1266776"/>
            <a:ext cx="6400801" cy="4153831"/>
          </a:xfrm>
        </p:spPr>
        <p:txBody>
          <a:bodyPr lIns="110000" tIns="70000" rIns="110000" bIns="7000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000" b="1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RuBERT</a:t>
            </a:r>
            <a:r>
              <a:rPr lang="ru-RU" sz="20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</a:t>
            </a:r>
            <a:r>
              <a:rPr lang="ru-RU" sz="2000" b="1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tiny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–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предобученная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трансформерная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модель для русскоязычных текстов, используемая для автоматического определения тональности отзывов.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Аспектный анализ 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– эвристический метод выделения значимых характеристик товара или сервиса из текста отзывов.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LDA (</a:t>
            </a:r>
            <a:r>
              <a:rPr lang="ru-RU" sz="2000" b="1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Latent</a:t>
            </a:r>
            <a:r>
              <a:rPr lang="ru-RU" sz="20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</a:t>
            </a:r>
            <a:r>
              <a:rPr lang="ru-RU" sz="2000" b="1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Dirichlet</a:t>
            </a:r>
            <a:r>
              <a:rPr lang="ru-RU" sz="20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</a:t>
            </a:r>
            <a:r>
              <a:rPr lang="ru-RU" sz="2000" b="1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Allocation</a:t>
            </a:r>
            <a:r>
              <a:rPr lang="ru-RU" sz="20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)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– алгоритм тематического моделирования, позволяющий выделять скрытые темы в массиве отзывов на основе совместной встречаемости слов.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TF-IDF + K-</a:t>
            </a:r>
            <a:r>
              <a:rPr lang="ru-RU" sz="2000" b="1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Means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– сочетание метода векторизации текста и алгоритма кластеризации, применяемое для группировки похожих отзывов.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5EE73D-1C8C-4E3B-94A2-19CDB3AC7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10</a:t>
            </a:fld>
            <a:endParaRPr lang="ru-RU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9F333FD4-0B9B-440E-BDB4-9215C1155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834552"/>
              </p:ext>
            </p:extLst>
          </p:nvPr>
        </p:nvGraphicFramePr>
        <p:xfrm>
          <a:off x="7172092" y="1352083"/>
          <a:ext cx="4404732" cy="398321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02366">
                  <a:extLst>
                    <a:ext uri="{9D8B030D-6E8A-4147-A177-3AD203B41FA5}">
                      <a16:colId xmlns:a16="http://schemas.microsoft.com/office/drawing/2014/main" val="3049755748"/>
                    </a:ext>
                  </a:extLst>
                </a:gridCol>
                <a:gridCol w="2202366">
                  <a:extLst>
                    <a:ext uri="{9D8B030D-6E8A-4147-A177-3AD203B41FA5}">
                      <a16:colId xmlns:a16="http://schemas.microsoft.com/office/drawing/2014/main" val="3495074616"/>
                    </a:ext>
                  </a:extLst>
                </a:gridCol>
              </a:tblGrid>
              <a:tr h="512956">
                <a:tc>
                  <a:txBody>
                    <a:bodyPr/>
                    <a:lstStyle/>
                    <a:p>
                      <a:pPr algn="ctr"/>
                      <a:r>
                        <a:rPr lang="ru-RU" sz="2400" b="1" kern="1200" dirty="0">
                          <a:solidFill>
                            <a:schemeClr val="lt1"/>
                          </a:solidFill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Метод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kern="1200" dirty="0">
                          <a:solidFill>
                            <a:schemeClr val="lt1"/>
                          </a:solidFill>
                          <a:latin typeface="Liberation Serif" panose="02020603050405020304" pitchFamily="18" charset="0"/>
                          <a:ea typeface="Liberation Serif" panose="02020603050405020304" pitchFamily="18" charset="0"/>
                          <a:cs typeface="Liberation Serif" panose="02020603050405020304" pitchFamily="18" charset="0"/>
                        </a:rPr>
                        <a:t>Назначение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676406"/>
                  </a:ext>
                </a:extLst>
              </a:tr>
              <a:tr h="851953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RuBERT</a:t>
                      </a:r>
                      <a:r>
                        <a:rPr lang="en-US" dirty="0"/>
                        <a:t> tiny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Анализ тональности отзывов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4406154"/>
                  </a:ext>
                </a:extLst>
              </a:tr>
              <a:tr h="851953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Аспектный анализ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Выделение значимых аспектов отзывов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1399774"/>
                  </a:ext>
                </a:extLst>
              </a:tr>
              <a:tr h="85195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LDA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Выделение скрытых тем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401139"/>
                  </a:ext>
                </a:extLst>
              </a:tr>
              <a:tr h="85195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TF-IDF + K-Means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Кластеризация похожих отзывов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9639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651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37CB5-1ACA-8FA3-5888-4D55F454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10000" tIns="70000" rIns="110000" bIns="70000">
            <a:normAutofit/>
          </a:bodyPr>
          <a:lstStyle/>
          <a:p>
            <a:r>
              <a:rPr lang="ru-RU" sz="3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Структура программного обеспечения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E5F1E-02E6-42FF-B58C-2CFAAEC3CA52}"/>
              </a:ext>
            </a:extLst>
          </p:cNvPr>
          <p:cNvSpPr txBox="1"/>
          <p:nvPr/>
        </p:nvSpPr>
        <p:spPr>
          <a:xfrm>
            <a:off x="1924493" y="6321365"/>
            <a:ext cx="83430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Рисунок 4 – Структура программного обеспечения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ReviewAnalyzer</a:t>
            </a:r>
            <a:endParaRPr lang="ru-RU" sz="2000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3303A8-950A-4449-B799-0BC49B4E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11</a:t>
            </a:fld>
            <a:endParaRPr lang="ru-RU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C2C40EEA-3142-463B-A453-27C3F5191C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195" y="769621"/>
            <a:ext cx="6181750" cy="5498145"/>
          </a:xfrm>
        </p:spPr>
      </p:pic>
    </p:spTree>
    <p:extLst>
      <p:ext uri="{BB962C8B-B14F-4D97-AF65-F5344CB8AC3E}">
        <p14:creationId xmlns:p14="http://schemas.microsoft.com/office/powerpoint/2010/main" val="3549564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37CB5-1ACA-8FA3-5888-4D55F454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10000" tIns="70000" rIns="110000" bIns="70000">
            <a:normAutofit/>
          </a:bodyPr>
          <a:lstStyle/>
          <a:p>
            <a:r>
              <a:rPr lang="ru-RU" sz="3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Тестирование программного обеспечения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C71E5B-20E5-4A68-B39B-50046D2E2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53178"/>
            <a:ext cx="10515600" cy="3189214"/>
          </a:xfrm>
        </p:spPr>
        <p:txBody>
          <a:bodyPr lIns="110000" tIns="70000" rIns="110000" bIns="7000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Для проекта реализован набор автоматизированных тестов, покрывающих ключевые пользовательские и технические сценарии.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Проверяются импорт отзывов, ручной ввод, корректность подготовки данных, генерация HTML-отчёта, логирование и отмена операций.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Отдельно тестируется специализированный парсер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Otzovik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и обработка граничных случаев.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По результатам разработки и отладки тестовый набор составляет 27 тестов, подтверждающих работоспособность основных компонентов системы.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83AF5AC-E449-4FA5-B672-68DABF00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12</a:t>
            </a:fld>
            <a:endParaRPr lang="ru-RU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888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37CB5-1ACA-8FA3-5888-4D55F454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10000" tIns="70000" rIns="110000" bIns="70000">
            <a:normAutofit/>
          </a:bodyPr>
          <a:lstStyle/>
          <a:p>
            <a:r>
              <a:rPr lang="ru-RU" sz="3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Интерфейс запуска анализа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83AF5AC-E449-4FA5-B672-68DABF00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13</a:t>
            </a:fld>
            <a:endParaRPr lang="ru-RU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01A5BE94-0544-4AEA-B7E9-E09EC5477C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92" y="925870"/>
            <a:ext cx="11391016" cy="5309370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4554FCA-08D8-47E9-AA3D-04717F37FE4F}"/>
              </a:ext>
            </a:extLst>
          </p:cNvPr>
          <p:cNvSpPr txBox="1"/>
          <p:nvPr/>
        </p:nvSpPr>
        <p:spPr>
          <a:xfrm>
            <a:off x="1924493" y="6280018"/>
            <a:ext cx="83430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Рисунок 5 – Главное окно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224791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37CB5-1ACA-8FA3-5888-4D55F454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10000" tIns="70000" rIns="110000" bIns="70000">
            <a:normAutofit/>
          </a:bodyPr>
          <a:lstStyle/>
          <a:p>
            <a:r>
              <a:rPr lang="ru-RU" sz="3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Демонстрация работы программы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83AF5AC-E449-4FA5-B672-68DABF00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14</a:t>
            </a:fld>
            <a:endParaRPr lang="ru-RU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4" name="Демонстрация">
            <a:hlinkClick r:id="" action="ppaction://media"/>
          </p:cNvPr>
          <p:cNvPicPr>
            <a:picLocks noGrp="1" noChangeAspect="1"/>
          </p:cNvPicPr>
          <p:nvPr>
            <p:ph sz="half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7660" y="868218"/>
            <a:ext cx="9756680" cy="5488132"/>
          </a:xfrm>
        </p:spPr>
      </p:pic>
    </p:spTree>
    <p:extLst>
      <p:ext uri="{BB962C8B-B14F-4D97-AF65-F5344CB8AC3E}">
        <p14:creationId xmlns:p14="http://schemas.microsoft.com/office/powerpoint/2010/main" val="3121712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37CB5-1ACA-8FA3-5888-4D55F454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10000" tIns="70000" rIns="110000" bIns="70000">
            <a:normAutofit/>
          </a:bodyPr>
          <a:lstStyle/>
          <a:p>
            <a:r>
              <a:rPr lang="ru-RU" sz="36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Результаты работы и направления развития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C71E5B-20E5-4A68-B39B-50046D2E2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53176"/>
            <a:ext cx="10515600" cy="5303173"/>
          </a:xfrm>
        </p:spPr>
        <p:txBody>
          <a:bodyPr lIns="110000" tIns="70000" rIns="110000" bIns="70000" anchor="t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Разработано программное обеспечение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ReviewAnalyzer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для автоматизированного анализа и визуализации пользовательских отзывов.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Разработаны </a:t>
            </a:r>
            <a:r>
              <a:rPr lang="ru-RU" sz="20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аналитические функции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:</a:t>
            </a:r>
          </a:p>
          <a:p>
            <a:pPr indent="3063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Импорт отзывов из файла, по ссылке и вручную;</a:t>
            </a:r>
          </a:p>
          <a:p>
            <a:pPr indent="3063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Анализ тональности на основе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RuBERT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;</a:t>
            </a:r>
          </a:p>
          <a:p>
            <a:pPr indent="3063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Извлечение аспектов;</a:t>
            </a:r>
          </a:p>
          <a:p>
            <a:pPr indent="3063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Тематическое моделирование;</a:t>
            </a:r>
          </a:p>
          <a:p>
            <a:pPr indent="3063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Кластеризация отзывов.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Реализованы </a:t>
            </a:r>
            <a:r>
              <a:rPr lang="ru-RU" sz="20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прикладные возможности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:</a:t>
            </a:r>
          </a:p>
          <a:p>
            <a:pPr indent="3063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Интерактивная визуализация результатов;</a:t>
            </a:r>
          </a:p>
          <a:p>
            <a:pPr indent="3063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Экспорт в HTML, CSV и JSON;</a:t>
            </a:r>
          </a:p>
          <a:p>
            <a:pPr indent="3063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Логирование и отмена длительных операций;</a:t>
            </a:r>
          </a:p>
          <a:p>
            <a:pPr indent="3063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Автоматизированное тестирование (27 тестов).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Дальнейшее развитие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:</a:t>
            </a:r>
          </a:p>
          <a:p>
            <a:pPr indent="217488" algn="just"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расширение источников данных;</a:t>
            </a:r>
          </a:p>
          <a:p>
            <a:pPr indent="217488" algn="just"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улучшение аспектного анализа;</a:t>
            </a:r>
          </a:p>
          <a:p>
            <a:pPr indent="217488" algn="just"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развитие серверного режима работы.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D51C26-7980-4856-B407-32F01D82E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EFE5-D2EB-4C7D-83C6-EAC534C1A41E}" type="slidenum">
              <a:rPr lang="ru-RU" smtClean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15</a:t>
            </a:fld>
            <a:endParaRPr lang="ru-RU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483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1839</TotalTime>
  <Words>788</Words>
  <Application>Microsoft Office PowerPoint</Application>
  <PresentationFormat>Широкоэкранный</PresentationFormat>
  <Paragraphs>161</Paragraphs>
  <Slides>15</Slides>
  <Notes>1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Liberation Serif</vt:lpstr>
      <vt:lpstr>Wingdings</vt:lpstr>
      <vt:lpstr>Тема Office</vt:lpstr>
      <vt:lpstr>Разработка программного обеспечения для анализа и визуализации результатов обработки пользовательских отзывов</vt:lpstr>
      <vt:lpstr>Актуальность</vt:lpstr>
      <vt:lpstr>Цель и задачи работы</vt:lpstr>
      <vt:lpstr>Обзор существующих аналогов</vt:lpstr>
      <vt:lpstr>Практическая значимость и пользователи</vt:lpstr>
      <vt:lpstr>Средства разработки</vt:lpstr>
      <vt:lpstr>Функциональные возможности системы</vt:lpstr>
      <vt:lpstr>Алгоритмический конвейер</vt:lpstr>
      <vt:lpstr>Принцип работы модели BERT и применение RuBERT</vt:lpstr>
      <vt:lpstr>Методы анализа текстов</vt:lpstr>
      <vt:lpstr>Структура программного обеспечения</vt:lpstr>
      <vt:lpstr>Тестирование программного обеспечения</vt:lpstr>
      <vt:lpstr>Интерфейс запуска анализа</vt:lpstr>
      <vt:lpstr>Демонстрация работы программы</vt:lpstr>
      <vt:lpstr>Результаты работы и направления развития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программного обеспечения для анализа и визуализации результатов обработки пользовательских отзывов</dc:title>
  <dc:creator>Иван Копьёв</dc:creator>
  <cp:lastModifiedBy>landilf</cp:lastModifiedBy>
  <cp:revision>399</cp:revision>
  <dcterms:created xsi:type="dcterms:W3CDTF">2026-06-14T09:26:30Z</dcterms:created>
  <dcterms:modified xsi:type="dcterms:W3CDTF">2026-06-16T18:38:57Z</dcterms:modified>
</cp:coreProperties>
</file>